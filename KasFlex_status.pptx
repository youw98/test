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line: this project exists to answer one question - what is safety verification actually worth, in euros and in violations. Everything else is machinery for producing that number.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Anchor to what was promised. All three headline deliverables exist as working software, not as a plan. Then be first to name the gap - validated physics - before they ask.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slide. Say: the point is not that the numbers are good, it is that we can produce them at all. Nobody in this space measures what verification is worth - they assert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it live if the room allows. Command 1 is the money shot - a grid engineer immediately recognises that rejection format as the thing they would need. Command 2 fills the table from the previous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walk through the diagram box by box. Make the one point - the checker is in the path, not beside it - and move on. The diagram is there to show it exists.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diligence slide. It says: this is engineering, not slideware. Keep it brief unless asked - the detail is in docs/DECISIONS.md.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Volunteering the gaps first is the credibility move. It also sets up the asks on the last slide - each gap maps to something I need.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cut-from-the-bottom design is the risk answer. We committed to a demonstrator, and the demonstrator survives even if the ambitious parts do not.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on the asks, not on a summary. Each one maps to a gap named on the 'what is not real' slide, so the sequence should already feel earned.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874520"/>
            <a:ext cx="7589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KasFlex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92608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2100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Verified agentic energy management for greenhouse horticulture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70332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C9D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plans a day of greenhouse energy use. A deterministic checker verifies it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C9D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 grid, asset and crop limits. A person approves it.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C9D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measure what that verification is worth.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4709160"/>
            <a:ext cx="2834640" cy="2743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4892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status review · 5 September 2026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5193792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FB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Tahir Abbas · Wageningen University &amp; Research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FB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4TU.NIRICT · WUR · TU Delft · TU/e · UT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732520" y="1874520"/>
            <a:ext cx="2788920" cy="2286000"/>
          </a:xfrm>
          <a:prstGeom prst="roundRect">
            <a:avLst>
              <a:gd name="adj" fmla="val 4000"/>
            </a:avLst>
          </a:prstGeom>
          <a:solidFill>
            <a:srgbClr val="1E352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732520" y="2148840"/>
            <a:ext cx="2788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66 → 0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8732520" y="301752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9D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violations,</a:t>
            </a:r>
            <a:endParaRPr lang="en-US" sz="120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9D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unverified vs verified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732520" y="3675888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C9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offline in under a second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6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committed to, and where it stands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97280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4TU.NIRICT community project · demonstrator budget EUR 5,000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F4F7F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73736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proposal:  </a:t>
            </a:r>
            <a:pPr indent="0" marL="0">
              <a:lnSpc>
                <a:spcPts val="2000"/>
              </a:lnSpc>
              <a:buNone/>
            </a:pPr>
            <a:r>
              <a:rPr lang="en-US" sz="1350" i="1" dirty="0">
                <a:solidFill>
                  <a:srgbClr val="142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reproducible digital twin prototype, benchmark scenarios for grid-aware agentic AI, and an open repository that can be directly reused by NIRICT researchers.”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2743200"/>
            <a:ext cx="3447288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DE3DC"/>
            </a:solidFill>
            <a:prstDash val="solid"/>
          </a:ln>
          <a:effectLst>
            <a:outerShdw sx="100000" sy="100000" kx="0" ky="0" algn="bl" rotWithShape="0" blurRad="127000" dist="25400" dir="5400000">
              <a:srgbClr val="AAB5A8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96112" y="2999232"/>
            <a:ext cx="749808" cy="274320"/>
          </a:xfrm>
          <a:prstGeom prst="roundRect">
            <a:avLst>
              <a:gd name="adj" fmla="val 20000"/>
            </a:avLst>
          </a:prstGeom>
          <a:solidFill>
            <a:srgbClr val="2C5F2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96112" y="2999232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896112" y="3401568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6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Reproducible prototype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896112" y="3840480"/>
            <a:ext cx="2971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A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end to end offline. Same seed, same result, byte for byte. 107 tests, 94% coverage.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61688" y="2743200"/>
            <a:ext cx="3447288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DE3DC"/>
            </a:solidFill>
            <a:prstDash val="solid"/>
          </a:ln>
          <a:effectLst>
            <a:outerShdw sx="100000" sy="100000" kx="0" ky="0" algn="bl" rotWithShape="0" blurRad="127000" dist="25400" dir="5400000">
              <a:srgbClr val="AAB5A8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17720" y="2999232"/>
            <a:ext cx="749808" cy="274320"/>
          </a:xfrm>
          <a:prstGeom prst="roundRect">
            <a:avLst>
              <a:gd name="adj" fmla="val 20000"/>
            </a:avLst>
          </a:prstGeom>
          <a:solidFill>
            <a:srgbClr val="2C5F2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617720" y="2999232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4617720" y="3401568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6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Benchmark scenarios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4617720" y="3840480"/>
            <a:ext cx="2971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A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experimental conditions run unattended from one command, writing structured records.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083296" y="2743200"/>
            <a:ext cx="3447288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DE3DC"/>
            </a:solidFill>
            <a:prstDash val="solid"/>
          </a:ln>
          <a:effectLst>
            <a:outerShdw sx="100000" sy="100000" kx="0" ky="0" algn="bl" rotWithShape="0" blurRad="127000" dist="25400" dir="5400000">
              <a:srgbClr val="AAB5A8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39328" y="2999232"/>
            <a:ext cx="749808" cy="274320"/>
          </a:xfrm>
          <a:prstGeom prst="roundRect">
            <a:avLst>
              <a:gd name="adj" fmla="val 20000"/>
            </a:avLst>
          </a:prstGeom>
          <a:solidFill>
            <a:srgbClr val="2C5F2D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339328" y="2999232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8339328" y="3401568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6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repository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8339328" y="3840480"/>
            <a:ext cx="2971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A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Apache-2.0, CITATION.cff, codemeta.json, data provenance, architecture and usage docs.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53492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demonstrator exists. What it does not yet have is validated physics — that is stage 1, and it is the next thing.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6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measurement that decides this project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97280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scenario, same planner, three simulated days. The only difference is whether the checker runs.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114800" y="16916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4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Checker disabled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955280" y="16916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Checker enabled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4231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6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Operating cost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8163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day, 5 ha greenhouse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0" y="2103120"/>
            <a:ext cx="3566160" cy="1188720"/>
          </a:xfrm>
          <a:prstGeom prst="roundRect">
            <a:avLst>
              <a:gd name="adj" fmla="val 6923"/>
            </a:avLst>
          </a:prstGeom>
          <a:solidFill>
            <a:srgbClr val="FCEFE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114800" y="210312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462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EUR 11,602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7955280" y="2103120"/>
            <a:ext cx="3566160" cy="1188720"/>
          </a:xfrm>
          <a:prstGeom prst="roundRect">
            <a:avLst>
              <a:gd name="adj" fmla="val 6923"/>
            </a:avLst>
          </a:prstGeom>
          <a:solidFill>
            <a:srgbClr val="F4F7F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955280" y="210312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EUR 10,498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3886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6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 violations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42793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grid, battery, buffer, crop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0" y="3566160"/>
            <a:ext cx="3566160" cy="1188720"/>
          </a:xfrm>
          <a:prstGeom prst="roundRect">
            <a:avLst>
              <a:gd name="adj" fmla="val 6923"/>
            </a:avLst>
          </a:prstGeom>
          <a:solidFill>
            <a:srgbClr val="FCEFE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114800" y="356616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C462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66</a:t>
            </a:r>
            <a:endParaRPr lang="en-US" sz="4600" dirty="0"/>
          </a:p>
        </p:txBody>
      </p:sp>
      <p:sp>
        <p:nvSpPr>
          <p:cNvPr id="16" name="Shape 14"/>
          <p:cNvSpPr/>
          <p:nvPr/>
        </p:nvSpPr>
        <p:spPr>
          <a:xfrm>
            <a:off x="7955280" y="3566160"/>
            <a:ext cx="3566160" cy="1188720"/>
          </a:xfrm>
          <a:prstGeom prst="roundRect">
            <a:avLst>
              <a:gd name="adj" fmla="val 6923"/>
            </a:avLst>
          </a:prstGeom>
          <a:solidFill>
            <a:srgbClr val="F4F7F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955280" y="356616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6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5120640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42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Unverified, the planner breaks limits 66 times and still costs more. Verified, it is caught every time and control falls back to the conventional baseline.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623620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Apparatus, not findings: the greenhouse model is not yet validated and the planner here is a deliberately constraint-blind fixture. The numbers show the measurement works.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2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runs. Here, now, with no network.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972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API key, no downloads, no cloud. A demo that cannot fail is itself a claim about the engineering.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6675120" cy="3200400"/>
          </a:xfrm>
          <a:prstGeom prst="roundRect">
            <a:avLst>
              <a:gd name="adj" fmla="val 2571"/>
            </a:avLst>
          </a:prstGeom>
          <a:solidFill>
            <a:srgbClr val="0B171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920240"/>
            <a:ext cx="621792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97BC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kasflex verify --plan bad_plan.json
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8A8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 rejected: 56 constraint violation(s).
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BFCC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[electrical/battery.state_of_charge] hour 00:
  -8473.68 kWh against a limit of 200.00 kWh.
  Discharge less in this hour, or charge earlier
  in the day.
</a:t>
            </a:r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97BC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kasflex experiment --days 3
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BFCC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ai-unverified     11601.63    66 violations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BFCC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ai-verified       10498.15     0 violations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635240" y="1783080"/>
            <a:ext cx="384048" cy="384048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635240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183880" y="175564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says why, not just no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183880" y="205740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AFC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rejection names the constraint, the hour, the value asked for and the value allowed — enough for the planner to fix it.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635240" y="2862072"/>
            <a:ext cx="384048" cy="384048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635240" y="2862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183880" y="283464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table fills itself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3136392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AFC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conditions across three days, unattended, in under a second.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635240" y="3941064"/>
            <a:ext cx="384048" cy="384048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635240" y="3941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183880" y="391363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physics on demand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183880" y="4215384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AFC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flag swaps the built-in model for GreenLight-Gym2, the validated Wageningen greenhouse simulator.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507492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demo time: under 60 seconds.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6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idea, and it is a small one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6949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checker sits between the planner and the equipment.</a:t>
            </a:r>
            <a:endParaRPr lang="en-US" sz="22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2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beside it.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697480"/>
            <a:ext cx="6949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142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Alliander proposal the safety layer sits alongside the agents and validates what they did. Here it sits in the path: no plan reaches equipment without a verdict from deterministic code that has no dependency on the AI.</a:t>
            </a: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142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turns “our system is safe” from a claim into a number we can publish.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4343400"/>
            <a:ext cx="6949440" cy="1783080"/>
          </a:xfrm>
          <a:prstGeom prst="roundRect">
            <a:avLst>
              <a:gd name="adj" fmla="val 4103"/>
            </a:avLst>
          </a:prstGeom>
          <a:solidFill>
            <a:srgbClr val="F4F7F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45262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did not build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2514600" y="45262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42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greenhouse physics, or power flow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505663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wrapped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514600" y="505663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42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GreenLight-Gym2 (WUR) and power-grid-model (the Dutch DSO tool)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558698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added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514600" y="5586984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42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prices, the energy hub, the intent language, the checker, human approval, the harness</a:t>
            </a:r>
            <a:endParaRPr lang="en-US" sz="1200" dirty="0"/>
          </a:p>
        </p:txBody>
      </p:sp>
      <p:pic>
        <p:nvPicPr>
          <p:cNvPr id="12" name="Image 0" descr="/home/user/test/docs/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1371600"/>
            <a:ext cx="3154680" cy="4489704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8001000" y="589788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diagram in the repository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6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things we checked first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97280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of these would have cost weeks if we had found it later.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88136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DE3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084832"/>
            <a:ext cx="384048" cy="384048"/>
          </a:xfrm>
          <a:prstGeom prst="ellipse">
            <a:avLst/>
          </a:prstGeom>
          <a:solidFill>
            <a:srgbClr val="C4622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084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2011680"/>
            <a:ext cx="9784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6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Wageningen simulator is AGPL-licensed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2350008"/>
            <a:ext cx="9784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Linking it into our code would have forced the whole project copyleft — including for any industry partner. We run it in a separate process instead, so our core stays Apache-2.0 and reusable. Worth asking Bart van Laatum whether a licence exception exists.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3246120"/>
            <a:ext cx="1088136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DE3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3502152"/>
            <a:ext cx="384048" cy="384048"/>
          </a:xfrm>
          <a:prstGeom prst="ellipse">
            <a:avLst/>
          </a:prstGeom>
          <a:solidFill>
            <a:srgbClr val="C4622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14400" y="3502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508760" y="3429000"/>
            <a:ext cx="9784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6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greenhouse and grid libraries cannot share an environment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508760" y="3767328"/>
            <a:ext cx="9784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require conflicting versions of a core dependency. Installing both silently downgrades the grid solver by two years — nobody would notice, and the power-flow results would not be reproducible. The same process split removes the problem.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4663440"/>
            <a:ext cx="1088136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DE3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4919472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4919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4846320"/>
            <a:ext cx="9784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6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do not need to fork the simulator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5184648"/>
            <a:ext cx="9784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already exposes the extension points for real electricity prices and Dutch weather. This was the largest risk to the schedule and it is now retired — a subclass, not a fork.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623620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verified against the actual packages on 4 September 2026, not inferred from documentation.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6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real, and what is not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5303520" cy="4160520"/>
          </a:xfrm>
          <a:prstGeom prst="roundRect">
            <a:avLst>
              <a:gd name="adj" fmla="val 1978"/>
            </a:avLst>
          </a:prstGeom>
          <a:solidFill>
            <a:srgbClr val="F4F7F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32688" y="169164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 today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932688" y="2176272"/>
            <a:ext cx="47548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42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GreenLight-Gym2 driven end to end, producing correct heat demand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42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checker: 13 limits, each individually switchable and tested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42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baseline that never proposes an unsafe plan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42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power flow verified against power-grid-model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42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approval, plan editing, append-only audit log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42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107 tests, 94% coverage, no network access anywhere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217920" y="1463040"/>
            <a:ext cx="5303520" cy="4160520"/>
          </a:xfrm>
          <a:prstGeom prst="roundRect">
            <a:avLst>
              <a:gd name="adj" fmla="val 1978"/>
            </a:avLst>
          </a:prstGeom>
          <a:solidFill>
            <a:srgbClr val="FCEFE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510528" y="169164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462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yet real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510528" y="2176272"/>
            <a:ext cx="47548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42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greenhouse model is not validated against measurements — stage 1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42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Prices and weather are synthetic, not ENTSO-E and KNMI — stage 3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42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planner has not been run against live models — stage 4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42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MPC reference yet, so we cannot bound the headroom — stage 5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42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browser interface for growers — stage 6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58064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code enforces this distinction: every result records whether the model was validated, and the tool prints a warning when it was not. No unvalidated figure can be published by accident.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6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order, cut from the bottom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97280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time or money runs short, stages 5 to 7 go. The checker and human approval never go: they carry the research contribution.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47672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947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207008" y="1965960"/>
            <a:ext cx="7178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42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 running end to end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8503920" y="196596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432304"/>
            <a:ext cx="384048" cy="384048"/>
          </a:xfrm>
          <a:prstGeom prst="ellipse">
            <a:avLst/>
          </a:prstGeom>
          <a:solidFill>
            <a:srgbClr val="C4622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4323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207008" y="2450592"/>
            <a:ext cx="7178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42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against Autonomous Greenhouse Challenge measurements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8503920" y="2450592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2916936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2916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207008" y="2935224"/>
            <a:ext cx="7178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42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checker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8503920" y="2935224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401568"/>
            <a:ext cx="384048" cy="384048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3401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207008" y="3419856"/>
            <a:ext cx="7178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42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ENTSO-E prices and Dutch weather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8503920" y="341985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Partly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3886200"/>
            <a:ext cx="384048" cy="384048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" y="3886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207008" y="3904488"/>
            <a:ext cx="7178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42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Language-model planner against live models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8503920" y="390448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Partly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4370832"/>
            <a:ext cx="384048" cy="384048"/>
          </a:xfrm>
          <a:prstGeom prst="ellipse">
            <a:avLst/>
          </a:prstGeom>
          <a:solidFill>
            <a:srgbClr val="5A6660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40080" y="4370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207008" y="4389120"/>
            <a:ext cx="7178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42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MPC reference controller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8503920" y="438912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do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40080" y="4855464"/>
            <a:ext cx="384048" cy="384048"/>
          </a:xfrm>
          <a:prstGeom prst="ellipse">
            <a:avLst/>
          </a:prstGeom>
          <a:solidFill>
            <a:srgbClr val="5A6660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40080" y="48554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1207008" y="4873752"/>
            <a:ext cx="7178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42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interface for growers</a:t>
            </a:r>
            <a:endParaRPr lang="en-US" sz="1350" dirty="0"/>
          </a:p>
        </p:txBody>
      </p:sp>
      <p:sp>
        <p:nvSpPr>
          <p:cNvPr id="31" name="Text 29"/>
          <p:cNvSpPr txBox="1"/>
          <p:nvPr/>
        </p:nvSpPr>
        <p:spPr>
          <a:xfrm>
            <a:off x="8503920" y="4873752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do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40080" y="5340096"/>
            <a:ext cx="384048" cy="384048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40080" y="53400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1207008" y="5358384"/>
            <a:ext cx="7178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42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Greenhouse cluster on a congested feeder</a:t>
            </a:r>
            <a:endParaRPr lang="en-US" sz="1350" dirty="0"/>
          </a:p>
        </p:txBody>
      </p:sp>
      <p:sp>
        <p:nvSpPr>
          <p:cNvPr id="35" name="Text 33"/>
          <p:cNvSpPr txBox="1"/>
          <p:nvPr/>
        </p:nvSpPr>
        <p:spPr>
          <a:xfrm>
            <a:off x="8503920" y="5358384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 built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10424160" y="1920240"/>
            <a:ext cx="1097280" cy="3657600"/>
          </a:xfrm>
          <a:prstGeom prst="roundRect">
            <a:avLst>
              <a:gd name="adj" fmla="val 6667"/>
            </a:avLst>
          </a:prstGeom>
          <a:solidFill>
            <a:srgbClr val="F4F7F2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10424160" y="416052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i="1" dirty="0">
                <a:solidFill>
                  <a:srgbClr val="5A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</a:t>
            </a:r>
            <a:endParaRPr lang="en-US" sz="11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00" i="1" dirty="0">
                <a:solidFill>
                  <a:srgbClr val="5A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</a:t>
            </a:r>
            <a:endParaRPr lang="en-US" sz="11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00" i="1" dirty="0">
                <a:solidFill>
                  <a:srgbClr val="5A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</a:t>
            </a:r>
            <a:endParaRPr lang="en-US" sz="11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00" i="1" dirty="0">
                <a:solidFill>
                  <a:srgbClr val="5A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640080" y="589788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7 is the bridge to Alliander and the KIC bid: it is optional for this demonstrator and central to the follow-on.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2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 need from you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0700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decisions, in rough order of how much they block.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03520" cy="1828800"/>
          </a:xfrm>
          <a:prstGeom prst="roundRect">
            <a:avLst>
              <a:gd name="adj" fmla="val 4500"/>
            </a:avLst>
          </a:prstGeom>
          <a:solidFill>
            <a:srgbClr val="1E3524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130552"/>
            <a:ext cx="384048" cy="384048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1305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81328" y="207568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Sign-off on the licensing split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932688" y="2679192"/>
            <a:ext cx="47548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AFC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Apache-2.0 core with the AGPL simulator isolated in its own process. I would like WUR's view, and an introduction to Bart van Laatum about a possible exception.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17920" y="1874520"/>
            <a:ext cx="5303520" cy="1828800"/>
          </a:xfrm>
          <a:prstGeom prst="roundRect">
            <a:avLst>
              <a:gd name="adj" fmla="val 4500"/>
            </a:avLst>
          </a:prstGeom>
          <a:solidFill>
            <a:srgbClr val="1E3524"/>
          </a:solidFill>
          <a:ln/>
        </p:spPr>
      </p:sp>
      <p:sp>
        <p:nvSpPr>
          <p:cNvPr id="10" name="Shape 8"/>
          <p:cNvSpPr/>
          <p:nvPr/>
        </p:nvSpPr>
        <p:spPr>
          <a:xfrm>
            <a:off x="6492240" y="2130552"/>
            <a:ext cx="384048" cy="384048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92240" y="21305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059168" y="207568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does the validation work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6510528" y="2679192"/>
            <a:ext cx="47548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AFC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needs someone to reconcile the Autonomous Greenhouse Challenge data against the model. Roughly four to six weeks. A research assistant or an MSc project would fit.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3977640"/>
            <a:ext cx="5303520" cy="1828800"/>
          </a:xfrm>
          <a:prstGeom prst="roundRect">
            <a:avLst>
              <a:gd name="adj" fmla="val 4500"/>
            </a:avLst>
          </a:prstGeom>
          <a:solidFill>
            <a:srgbClr val="1E3524"/>
          </a:solidFill>
          <a:ln/>
        </p:spPr>
      </p:sp>
      <p:sp>
        <p:nvSpPr>
          <p:cNvPr id="15" name="Shape 13"/>
          <p:cNvSpPr/>
          <p:nvPr/>
        </p:nvSpPr>
        <p:spPr>
          <a:xfrm>
            <a:off x="914400" y="4233672"/>
            <a:ext cx="384048" cy="384048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4233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481328" y="417880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Release the data budget and an ENTSO-E account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932688" y="4782312"/>
            <a:ext cx="47548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AFC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 1,500 is already allocated for data curation in the proposal. I need it released, plus an institutional ENTSO-E Transparency Platform account.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17920" y="3977640"/>
            <a:ext cx="5303520" cy="1828800"/>
          </a:xfrm>
          <a:prstGeom prst="roundRect">
            <a:avLst>
              <a:gd name="adj" fmla="val 4500"/>
            </a:avLst>
          </a:prstGeom>
          <a:solidFill>
            <a:srgbClr val="1E3524"/>
          </a:solidFill>
          <a:ln/>
        </p:spPr>
      </p:sp>
      <p:sp>
        <p:nvSpPr>
          <p:cNvPr id="20" name="Shape 18"/>
          <p:cNvSpPr/>
          <p:nvPr/>
        </p:nvSpPr>
        <p:spPr>
          <a:xfrm>
            <a:off x="6492240" y="4233672"/>
            <a:ext cx="384048" cy="384048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92240" y="4233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059168" y="417880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scope call on the cluster work</a:t>
            </a:r>
            <a:endParaRPr lang="en-US" sz="1550" dirty="0"/>
          </a:p>
        </p:txBody>
      </p:sp>
      <p:sp>
        <p:nvSpPr>
          <p:cNvPr id="23" name="Text 21"/>
          <p:cNvSpPr txBox="1"/>
          <p:nvPr/>
        </p:nvSpPr>
        <p:spPr>
          <a:xfrm>
            <a:off x="6510528" y="4782312"/>
            <a:ext cx="47548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AFC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we build the multi-greenhouse grid scenario now as a demonstrator showpiece for Alliander, or hold it as the centrepiece of the KIC bid?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6144768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C9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Repository: branch  claude/power-grid-mvp-plan-ye6xq2   ·   full plan in  docs/MVP_PLAN.md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KasFlex MVP status</dc:title>
  <dc:subject>PptxGenJS Presentation</dc:subject>
  <dc:creator>Tahir Abbas</dc:creator>
  <cp:lastModifiedBy>Tahir Abbas</cp:lastModifiedBy>
  <cp:revision>1</cp:revision>
  <dcterms:created xsi:type="dcterms:W3CDTF">2026-09-05T01:32:21Z</dcterms:created>
  <dcterms:modified xsi:type="dcterms:W3CDTF">2026-09-05T01:32:21Z</dcterms:modified>
</cp:coreProperties>
</file>